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Spectral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Spectral-bold.fntdata"/><Relationship Id="rId10" Type="http://schemas.openxmlformats.org/officeDocument/2006/relationships/font" Target="fonts/Spectral-regular.fntdata"/><Relationship Id="rId13" Type="http://schemas.openxmlformats.org/officeDocument/2006/relationships/font" Target="fonts/Spectral-boldItalic.fntdata"/><Relationship Id="rId12" Type="http://schemas.openxmlformats.org/officeDocument/2006/relationships/font" Target="fonts/Spectral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6bf307a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6bf307a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6bf307a3f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6bf307a3f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6bf307a3f_4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c6bf307a3f_4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hyperlink" Target="https://www.who.int/news-room/fact-sheets/detail/dementia" TargetMode="External"/><Relationship Id="rId5" Type="http://schemas.openxmlformats.org/officeDocument/2006/relationships/hyperlink" Target="https://www.who.int/news-room/fact-sheets/detail/dementia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534400"/>
            <a:ext cx="8520600" cy="178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pectral"/>
                <a:ea typeface="Spectral"/>
                <a:cs typeface="Spectral"/>
                <a:sym typeface="Spectral"/>
              </a:rPr>
              <a:t>AI Alzheimer and Dementia Review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9173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Gavriilidis Paraskevas 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9200" y="685050"/>
            <a:ext cx="3856299" cy="393572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1486850" y="4668300"/>
            <a:ext cx="36210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600">
                <a:solidFill>
                  <a:schemeClr val="dk1"/>
                </a:solidFill>
              </a:rPr>
              <a:t>Ledig, C., Schuh, A., Guerrero, R. et al. Structural brain imaging in Alzheimer’s disease and mild cognitive impairment: biomarker analysis and shared morphometry database. Sci Rep </a:t>
            </a:r>
            <a:r>
              <a:rPr b="1" i="1" lang="en" sz="600">
                <a:solidFill>
                  <a:schemeClr val="dk1"/>
                </a:solidFill>
              </a:rPr>
              <a:t>8</a:t>
            </a:r>
            <a:r>
              <a:rPr i="1" lang="en" sz="600">
                <a:solidFill>
                  <a:schemeClr val="dk1"/>
                </a:solidFill>
              </a:rPr>
              <a:t>, 11258 (2018). https://doi.org/10.1038/s41598-018-29295-9</a:t>
            </a:r>
            <a:endParaRPr i="1" sz="500">
              <a:solidFill>
                <a:schemeClr val="dk2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4200" y="732563"/>
            <a:ext cx="2290586" cy="393572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5484125" y="4642500"/>
            <a:ext cx="2290500" cy="5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600">
                <a:solidFill>
                  <a:schemeClr val="dk1"/>
                </a:solidFill>
              </a:rPr>
              <a:t>Alzheimer's Association. (2025). 2025 Alzheimer's disease facts and figures. Alzheimer's &amp; Dementia</a:t>
            </a:r>
            <a:endParaRPr i="1" sz="600">
              <a:solidFill>
                <a:schemeClr val="dk2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252363" y="1211450"/>
            <a:ext cx="1024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>
                <a:solidFill>
                  <a:schemeClr val="dk2"/>
                </a:solidFill>
              </a:rPr>
              <a:t>Healthy control</a:t>
            </a:r>
            <a:endParaRPr b="1" i="1" sz="600">
              <a:solidFill>
                <a:schemeClr val="dk2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252363" y="2462600"/>
            <a:ext cx="102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>
                <a:solidFill>
                  <a:schemeClr val="dk2"/>
                </a:solidFill>
              </a:rPr>
              <a:t>Mild Cognitive Impairment</a:t>
            </a:r>
            <a:endParaRPr b="1" i="1" sz="6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252363" y="3727700"/>
            <a:ext cx="102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>
                <a:solidFill>
                  <a:schemeClr val="dk2"/>
                </a:solidFill>
              </a:rPr>
              <a:t>Alzheimer Disease</a:t>
            </a:r>
            <a:endParaRPr b="1" i="1" sz="600">
              <a:solidFill>
                <a:schemeClr val="dk2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2461225" y="125250"/>
            <a:ext cx="42216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Spectral"/>
                <a:ea typeface="Spectral"/>
                <a:cs typeface="Spectral"/>
                <a:sym typeface="Spectral"/>
              </a:rPr>
              <a:t>Overview of Alzheimer &amp; Dementia</a:t>
            </a:r>
            <a:endParaRPr sz="1800">
              <a:solidFill>
                <a:schemeClr val="dk2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cxnSp>
        <p:nvCxnSpPr>
          <p:cNvPr id="68" name="Google Shape;68;p14"/>
          <p:cNvCxnSpPr/>
          <p:nvPr/>
        </p:nvCxnSpPr>
        <p:spPr>
          <a:xfrm>
            <a:off x="22100" y="456875"/>
            <a:ext cx="9122700" cy="2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5"/>
          <p:cNvPicPr preferRelativeResize="0"/>
          <p:nvPr/>
        </p:nvPicPr>
        <p:blipFill rotWithShape="1">
          <a:blip r:embed="rId3">
            <a:alphaModFix/>
          </a:blip>
          <a:srcRect b="327" l="0" r="0" t="327"/>
          <a:stretch/>
        </p:blipFill>
        <p:spPr>
          <a:xfrm>
            <a:off x="71350" y="717125"/>
            <a:ext cx="5573251" cy="370925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5600375" y="2017650"/>
            <a:ext cx="31098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Spectral"/>
                <a:ea typeface="Spectral"/>
                <a:cs typeface="Spectral"/>
                <a:sym typeface="Spectral"/>
              </a:rPr>
              <a:t>Global dementia cases are projected to increase from </a:t>
            </a:r>
            <a:r>
              <a:rPr b="1" lang="en">
                <a:solidFill>
                  <a:schemeClr val="dk2"/>
                </a:solidFill>
                <a:latin typeface="Spectral"/>
                <a:ea typeface="Spectral"/>
                <a:cs typeface="Spectral"/>
                <a:sym typeface="Spectral"/>
              </a:rPr>
              <a:t>57 million</a:t>
            </a:r>
            <a:r>
              <a:rPr b="1" lang="en" sz="1300">
                <a:solidFill>
                  <a:schemeClr val="dk2"/>
                </a:solidFill>
                <a:latin typeface="Spectral"/>
                <a:ea typeface="Spectral"/>
                <a:cs typeface="Spectral"/>
                <a:sym typeface="Spectral"/>
              </a:rPr>
              <a:t> in 2020 to </a:t>
            </a:r>
            <a:r>
              <a:rPr b="1" lang="en">
                <a:solidFill>
                  <a:schemeClr val="dk2"/>
                </a:solidFill>
                <a:latin typeface="Spectral"/>
                <a:ea typeface="Spectral"/>
                <a:cs typeface="Spectral"/>
                <a:sym typeface="Spectral"/>
              </a:rPr>
              <a:t>83 million </a:t>
            </a:r>
            <a:r>
              <a:rPr b="1" lang="en" sz="1300">
                <a:solidFill>
                  <a:schemeClr val="dk2"/>
                </a:solidFill>
                <a:latin typeface="Spectral"/>
                <a:ea typeface="Spectral"/>
                <a:cs typeface="Spectral"/>
                <a:sym typeface="Spectral"/>
              </a:rPr>
              <a:t>by 2030 and 116 million by 2040</a:t>
            </a:r>
            <a:r>
              <a:rPr lang="en" sz="1200">
                <a:solidFill>
                  <a:schemeClr val="dk2"/>
                </a:solidFill>
                <a:latin typeface="Spectral"/>
                <a:ea typeface="Spectral"/>
                <a:cs typeface="Spectral"/>
                <a:sym typeface="Spectral"/>
              </a:rPr>
              <a:t>, with </a:t>
            </a:r>
            <a:r>
              <a:rPr i="1" lang="en" sz="1200">
                <a:solidFill>
                  <a:schemeClr val="dk2"/>
                </a:solidFill>
                <a:latin typeface="Spectral"/>
                <a:ea typeface="Spectral"/>
                <a:cs typeface="Spectral"/>
                <a:sym typeface="Spectral"/>
              </a:rPr>
              <a:t>Alzheimer's disease</a:t>
            </a:r>
            <a:r>
              <a:rPr lang="en" sz="1200">
                <a:solidFill>
                  <a:schemeClr val="dk2"/>
                </a:solidFill>
                <a:latin typeface="Spectral"/>
                <a:ea typeface="Spectral"/>
                <a:cs typeface="Spectral"/>
                <a:sym typeface="Spectral"/>
              </a:rPr>
              <a:t> accounting for approximately </a:t>
            </a:r>
            <a:r>
              <a:rPr i="1" lang="en" sz="1200">
                <a:solidFill>
                  <a:schemeClr val="dk2"/>
                </a:solidFill>
                <a:latin typeface="Spectral"/>
                <a:ea typeface="Spectral"/>
                <a:cs typeface="Spectral"/>
                <a:sym typeface="Spectral"/>
              </a:rPr>
              <a:t>60–70%</a:t>
            </a:r>
            <a:r>
              <a:rPr lang="en" sz="1200">
                <a:solidFill>
                  <a:schemeClr val="dk2"/>
                </a:solidFill>
                <a:latin typeface="Spectral"/>
                <a:ea typeface="Spectral"/>
                <a:cs typeface="Spectral"/>
                <a:sym typeface="Spectral"/>
              </a:rPr>
              <a:t> of all cases.</a:t>
            </a:r>
            <a:endParaRPr sz="1200">
              <a:solidFill>
                <a:schemeClr val="dk2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648475" y="4340300"/>
            <a:ext cx="44949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600">
                <a:solidFill>
                  <a:schemeClr val="dk1"/>
                </a:solidFill>
              </a:rPr>
              <a:t>E. Nichols et al., "Estimation of the global prevalence of dementia in 2019 and forecasted prevalence in 2050: an analysis for the Global Burden of Disease Study 2019," Lancet Public Health, vol. 7, no. 2, pp. e105-e125, Feb. 2022, doi: 10.1016/S2468-2667(21)00249-8.</a:t>
            </a:r>
            <a:endParaRPr i="1" sz="600">
              <a:solidFill>
                <a:schemeClr val="dk2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648475" y="4612950"/>
            <a:ext cx="405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600">
                <a:solidFill>
                  <a:schemeClr val="dk1"/>
                </a:solidFill>
              </a:rPr>
              <a:t>World Health Organization (WHO). Dementia – Fact sheet, updated 30 March 2025. Available at:</a:t>
            </a:r>
            <a:r>
              <a:rPr i="1" lang="en" sz="60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i="1" lang="en" sz="600" u="sng">
                <a:solidFill>
                  <a:schemeClr val="hlink"/>
                </a:solidFill>
                <a:hlinkClick r:id="rId5"/>
              </a:rPr>
              <a:t>https://www.who.int/news-room/fact-sheets/detail/dementia</a:t>
            </a:r>
            <a:endParaRPr i="1" sz="600"/>
          </a:p>
        </p:txBody>
      </p:sp>
      <p:sp>
        <p:nvSpPr>
          <p:cNvPr id="77" name="Google Shape;77;p15"/>
          <p:cNvSpPr txBox="1"/>
          <p:nvPr/>
        </p:nvSpPr>
        <p:spPr>
          <a:xfrm>
            <a:off x="2744550" y="125250"/>
            <a:ext cx="36549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Spectral"/>
                <a:ea typeface="Spectral"/>
                <a:cs typeface="Spectral"/>
                <a:sym typeface="Spectral"/>
              </a:rPr>
              <a:t>Affected Population </a:t>
            </a:r>
            <a:endParaRPr sz="1800">
              <a:solidFill>
                <a:schemeClr val="dk2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cxnSp>
        <p:nvCxnSpPr>
          <p:cNvPr id="78" name="Google Shape;78;p15"/>
          <p:cNvCxnSpPr/>
          <p:nvPr/>
        </p:nvCxnSpPr>
        <p:spPr>
          <a:xfrm>
            <a:off x="22100" y="456875"/>
            <a:ext cx="9122700" cy="2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6"/>
          <p:cNvPicPr preferRelativeResize="0"/>
          <p:nvPr/>
        </p:nvPicPr>
        <p:blipFill rotWithShape="1">
          <a:blip r:embed="rId3">
            <a:alphaModFix/>
          </a:blip>
          <a:srcRect b="327" l="0" r="0" t="327"/>
          <a:stretch/>
        </p:blipFill>
        <p:spPr>
          <a:xfrm>
            <a:off x="0" y="789487"/>
            <a:ext cx="5355775" cy="35645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/>
        </p:nvSpPr>
        <p:spPr>
          <a:xfrm>
            <a:off x="5504575" y="1725150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pectral"/>
                <a:ea typeface="Spectral"/>
                <a:cs typeface="Spectral"/>
                <a:sym typeface="Spectral"/>
              </a:rPr>
              <a:t>The global economic cost of dementia was </a:t>
            </a:r>
            <a:r>
              <a:rPr b="1" lang="en" sz="1200">
                <a:latin typeface="Spectral"/>
                <a:ea typeface="Spectral"/>
                <a:cs typeface="Spectral"/>
                <a:sym typeface="Spectral"/>
              </a:rPr>
              <a:t>$1.3 trillion</a:t>
            </a:r>
            <a:r>
              <a:rPr lang="en" sz="1200">
                <a:latin typeface="Spectral"/>
                <a:ea typeface="Spectral"/>
                <a:cs typeface="Spectral"/>
                <a:sym typeface="Spectral"/>
              </a:rPr>
              <a:t> in 2019 and is projected to reach </a:t>
            </a:r>
            <a:r>
              <a:rPr b="1" lang="en" sz="1200">
                <a:latin typeface="Spectral"/>
                <a:ea typeface="Spectral"/>
                <a:cs typeface="Spectral"/>
                <a:sym typeface="Spectral"/>
              </a:rPr>
              <a:t>$1.7 trillion </a:t>
            </a:r>
            <a:r>
              <a:rPr lang="en" sz="1200">
                <a:latin typeface="Spectral"/>
                <a:ea typeface="Spectral"/>
                <a:cs typeface="Spectral"/>
                <a:sym typeface="Spectral"/>
              </a:rPr>
              <a:t>by 2030 under baseline assumptions, or </a:t>
            </a:r>
            <a:r>
              <a:rPr i="1" lang="en" sz="1200">
                <a:latin typeface="Spectral"/>
                <a:ea typeface="Spectral"/>
                <a:cs typeface="Spectral"/>
                <a:sym typeface="Spectral"/>
              </a:rPr>
              <a:t>$2.8 trillion when accounting for rising care costs.</a:t>
            </a:r>
            <a:endParaRPr i="1" sz="1200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378838" y="4399250"/>
            <a:ext cx="45981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600">
                <a:solidFill>
                  <a:schemeClr val="dk1"/>
                </a:solidFill>
              </a:rPr>
              <a:t>World Health Organization. (2021). Global status report on the public health response to dementia. Geneva: World Health Organization.</a:t>
            </a:r>
            <a:endParaRPr i="1" sz="600">
              <a:solidFill>
                <a:schemeClr val="dk2"/>
              </a:solidFill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2744550" y="125250"/>
            <a:ext cx="36549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Spectral"/>
                <a:ea typeface="Spectral"/>
                <a:cs typeface="Spectral"/>
                <a:sym typeface="Spectral"/>
              </a:rPr>
              <a:t>Economical Impact</a:t>
            </a:r>
            <a:endParaRPr sz="1800">
              <a:solidFill>
                <a:schemeClr val="dk2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cxnSp>
        <p:nvCxnSpPr>
          <p:cNvPr id="87" name="Google Shape;87;p16"/>
          <p:cNvCxnSpPr/>
          <p:nvPr/>
        </p:nvCxnSpPr>
        <p:spPr>
          <a:xfrm>
            <a:off x="22100" y="456875"/>
            <a:ext cx="9122700" cy="2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